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8c99f7fc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38c99f7fc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Welcome the panel. Introduce the project as a full ML pipeline for predicting telecom customer churn, built by all four team members, from data cleaning to a live Streamlit demo.</a:t>
            </a:r>
            <a:endParaRPr/>
          </a:p>
        </p:txBody>
      </p:sp>
      <p:sp>
        <p:nvSpPr>
          <p:cNvPr id="55" name="Google Shape;55;g3f38c99f7fc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8c99f7fc_2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38c99f7fc_2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Frame the business problem before the technical solution. Emphasize proactive retention is cheaper than reacquiring lost customers.</a:t>
            </a:r>
            <a:endParaRPr/>
          </a:p>
        </p:txBody>
      </p:sp>
      <p:sp>
        <p:nvSpPr>
          <p:cNvPr id="66" name="Google Shape;66;g3f38c99f7fc_2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8c99f7fc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38c99f7fc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Six objectives covering the full lifecycle: cleaning, EDA, modeling, evaluation, deployment, and documentation.</a:t>
            </a:r>
            <a:endParaRPr/>
          </a:p>
        </p:txBody>
      </p:sp>
      <p:sp>
        <p:nvSpPr>
          <p:cNvPr id="78" name="Google Shape;78;g3f38c99f7fc_2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8c99f7fc_2_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38c99f7fc_2_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has 33 raw columns; 13 are dropped as identifiers, geo-data, or target-leaking columns, leaving 19 usable raw features which expand to 30 after one-hot encoding.</a:t>
            </a:r>
            <a:endParaRPr/>
          </a:p>
        </p:txBody>
      </p:sp>
      <p:sp>
        <p:nvSpPr>
          <p:cNvPr id="114" name="Google Shape;114;g3f38c99f7fc_2_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38c99f7fc_2_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38c99f7fc_2_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tool here is beginner-friendly and widely taught — deliberately no deep learning frameworks, Docker, or FastAPI, to keep the project simple to defend.</a:t>
            </a:r>
            <a:endParaRPr/>
          </a:p>
        </p:txBody>
      </p:sp>
      <p:sp>
        <p:nvSpPr>
          <p:cNvPr id="138" name="Google Shape;138;g3f38c99f7fc_2_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8c99f7fc_2_1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38c99f7fc_2_1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Walk through the pipeline left to right. Mention preprocess.py, train_model.py, and app.py as the three source files, each responsible for one stage.</a:t>
            </a:r>
            <a:endParaRPr/>
          </a:p>
        </p:txBody>
      </p:sp>
      <p:sp>
        <p:nvSpPr>
          <p:cNvPr id="174" name="Google Shape;174;g3f38c99f7fc_2_1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38c99f7fc_2_1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f38c99f7fc_2_1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Both charts are real screenshots taken directly from our running Streamlit app's EDA page, not simulated data.</a:t>
            </a:r>
            <a:endParaRPr/>
          </a:p>
        </p:txBody>
      </p:sp>
      <p:sp>
        <p:nvSpPr>
          <p:cNvPr id="209" name="Google Shape;209;g3f38c99f7fc_2_1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38c99f7fc_2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f38c99f7fc_2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Month-to-month contracts, fiber optic internet, and electronic check payments show the highest churn rates — these became strong predictive features for the model.</a:t>
            </a:r>
            <a:endParaRPr/>
          </a:p>
        </p:txBody>
      </p:sp>
      <p:sp>
        <p:nvSpPr>
          <p:cNvPr id="220" name="Google Shape;220;g3f38c99f7fc_2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38c99f7fc_2_1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38c99f7fc_2_1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 Forest was close but slightly behind on accuracy. We chose Logistic Regression for the best balance of performance and interpretability.</a:t>
            </a:r>
            <a:endParaRPr/>
          </a:p>
        </p:txBody>
      </p:sp>
      <p:sp>
        <p:nvSpPr>
          <p:cNvPr id="229" name="Google Shape;229;g3f38c99f7fc_2_1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38c99f7fc_2_1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38c99f7fc_2_1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four metrics were computed with scikit-learn's classification metrics on the test split. Feature importance came from the model's coefficients.</a:t>
            </a:r>
            <a:endParaRPr/>
          </a:p>
        </p:txBody>
      </p:sp>
      <p:sp>
        <p:nvSpPr>
          <p:cNvPr id="242" name="Google Shape;242;g3f38c99f7fc_2_1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38c99f7fc_2_2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38c99f7fc_2_2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tip: if live-demoing, walk through Home → EDA → Model Performance → Prediction in that order.</a:t>
            </a:r>
            <a:endParaRPr/>
          </a:p>
        </p:txBody>
      </p:sp>
      <p:sp>
        <p:nvSpPr>
          <p:cNvPr id="263" name="Google Shape;263;g3f38c99f7fc_2_2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38c99f7fc_2_2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38c99f7fc_2_2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clear this advanced stack is intentionally NOT part of this assignment — it's a future capstone, so the panel understands the scope was a deliberate choice.</a:t>
            </a:r>
            <a:endParaRPr/>
          </a:p>
        </p:txBody>
      </p:sp>
      <p:sp>
        <p:nvSpPr>
          <p:cNvPr id="287" name="Google Shape;287;g3f38c99f7fc_2_2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38c99f7fc_2_2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f38c99f7fc_2_2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floor for questions. Be ready to explain the encoding trick for prediction and why Logistic Regression was chosen.</a:t>
            </a:r>
            <a:endParaRPr/>
          </a:p>
        </p:txBody>
      </p:sp>
      <p:sp>
        <p:nvSpPr>
          <p:cNvPr id="299" name="Google Shape;299;g3f38c99f7fc_2_2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4046220" y="685800"/>
            <a:ext cx="1028700" cy="1028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377" y="798957"/>
            <a:ext cx="802386" cy="80238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342900" y="1885950"/>
            <a:ext cx="84353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Churn Prediction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788670" y="250317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0DA"/>
              </a:buClr>
              <a:buSzPts val="1400"/>
              <a:buFont typeface="Calibri"/>
              <a:buNone/>
            </a:pPr>
            <a:r>
              <a:rPr b="0" i="1" lang="en-GB" sz="1400" u="none" cap="none" strike="noStrike">
                <a:solidFill>
                  <a:srgbClr val="9FE0DA"/>
                </a:solidFill>
                <a:latin typeface="Calibri"/>
                <a:ea typeface="Calibri"/>
                <a:cs typeface="Calibri"/>
                <a:sym typeface="Calibri"/>
              </a:rPr>
              <a:t>Using Machine Learning to Predict and Prevent Telecom Customer Churn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42900" y="3120390"/>
            <a:ext cx="8435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0D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FE0DA"/>
                </a:solidFill>
                <a:latin typeface="Calibri"/>
                <a:ea typeface="Calibri"/>
                <a:cs typeface="Calibri"/>
                <a:sym typeface="Calibri"/>
              </a:rPr>
              <a:t>MCA Machine Learning Assignment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42900" y="4389120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Abhay   •   Anshika   •   Akshit   •   Riya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11480" y="1097280"/>
            <a:ext cx="617220" cy="6172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74" y="1165175"/>
            <a:ext cx="481432" cy="48143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1234440" y="1062990"/>
            <a:ext cx="3429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Telecom companies operate in a highly competitive market. Losing a customer (churn) means lost recurring revenue and higher costs to acquire a replacement.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869180" y="960120"/>
            <a:ext cx="3840480" cy="3154680"/>
          </a:xfrm>
          <a:prstGeom prst="roundRect">
            <a:avLst>
              <a:gd fmla="val 1739" name="adj"/>
            </a:avLst>
          </a:prstGeom>
          <a:solidFill>
            <a:srgbClr val="F4FBFA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5143500" y="11658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1" lang="en-GB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Can we predict, in advance, which customers are likely to leave?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143500" y="1885950"/>
            <a:ext cx="329184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Given a customer's demographics, account details, and subscribed services 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 whether they will churn (Yes/No)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 the business can proactively retain at-risk customers.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1148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562356" y="12138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47" y="1255357"/>
            <a:ext cx="294209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1028700" y="11864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Clean &amp; Preprocess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62356" y="16459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Handle missing values, irrelevant columns, and encode the target.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25755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3408426" y="12138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917" y="1255357"/>
            <a:ext cx="294208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3874770" y="11864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Explore the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408426" y="16459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Visualize churn patterns across customer segments.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10362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254496" y="12138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5987" y="1255357"/>
            <a:ext cx="294209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6720840" y="11864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ML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254496" y="16459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 and compare Logistic Regression and Random Forest.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1148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62356" y="25854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47" y="2626957"/>
            <a:ext cx="294209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1028700" y="25580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Evaluate Rigorously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62356" y="30175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 F1 Score, Confusion Matrix.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5755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408426" y="25854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917" y="2626957"/>
            <a:ext cx="294208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3874770" y="25580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 Interactively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408426" y="30175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Serve live predictions through a Streamlit web app.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10362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254496" y="2585466"/>
            <a:ext cx="377190" cy="37719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5987" y="2626957"/>
            <a:ext cx="294209" cy="29420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6720840" y="2558034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 Professionally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254496" y="3017520"/>
            <a:ext cx="23728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Clean README, full report, and this presentation.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11480" y="7200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Telco_customer_churn.xlsx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11480" y="1165860"/>
            <a:ext cx="1988820" cy="1028700"/>
          </a:xfrm>
          <a:prstGeom prst="roundRect">
            <a:avLst>
              <a:gd fmla="val 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11480" y="1248156"/>
            <a:ext cx="19888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GB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7,043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11480" y="1817370"/>
            <a:ext cx="19888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Customer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2571750" y="1165860"/>
            <a:ext cx="1988820" cy="1028700"/>
          </a:xfrm>
          <a:prstGeom prst="roundRect">
            <a:avLst>
              <a:gd fmla="val 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2571750" y="1248156"/>
            <a:ext cx="19888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GB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571750" y="1817370"/>
            <a:ext cx="19888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Original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732020" y="1165860"/>
            <a:ext cx="1988820" cy="1028700"/>
          </a:xfrm>
          <a:prstGeom prst="roundRect">
            <a:avLst>
              <a:gd fmla="val 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732020" y="1248156"/>
            <a:ext cx="19888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GB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732020" y="1817370"/>
            <a:ext cx="19888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Encoded Features 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892290" y="1165860"/>
            <a:ext cx="1988820" cy="1028700"/>
          </a:xfrm>
          <a:prstGeom prst="roundRect">
            <a:avLst>
              <a:gd fmla="val 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892290" y="1248156"/>
            <a:ext cx="19888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GB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892290" y="1817370"/>
            <a:ext cx="19888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Raw Predictive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11480" y="243459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11480" y="277749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Demographics: Gender, Senior Citizen, Partner, Dependents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Account Info: Tenure, Contract, Paperless Billing, Payment 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Services: Phone, Internet, Security, Backup, Streaming, etc.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Billing: Monthly Charges, Total Charges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869180" y="2434590"/>
            <a:ext cx="3840480" cy="2125980"/>
          </a:xfrm>
          <a:prstGeom prst="roundRect">
            <a:avLst>
              <a:gd fmla="val 2581" name="adj"/>
            </a:avLst>
          </a:prstGeom>
          <a:solidFill>
            <a:srgbClr val="F4FBFA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074920" y="257175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Columns Dropped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074920" y="2880360"/>
            <a:ext cx="3429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CustomerID, Count, Country, State, City, Zip Code, Lat Long, Latitude, Longitude, Churn Score, CLTV, Churn Reason, Churn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1148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562356" y="1457325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618" y="15025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1097280" y="12550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097280" y="16459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programming language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25755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3408426" y="1457325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688" y="15025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3943350" y="12550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Pandas / NumPy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943350" y="16459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loading &amp; manipulation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10362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6254496" y="1457325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9758" y="15025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6789420" y="12550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789420" y="16459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training &amp; evaluation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1148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62356" y="2828925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618" y="28741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097280" y="26266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097280" y="30175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Charts &amp; visualizations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25755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3408426" y="2828925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53688" y="28741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3943350" y="26266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943350" y="30175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B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6FBF7"/>
                </a:solidFill>
                <a:latin typeface="Calibri"/>
                <a:ea typeface="Calibri"/>
                <a:cs typeface="Calibri"/>
                <a:sym typeface="Calibri"/>
              </a:rPr>
              <a:t>Interactive web application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10362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254496" y="2828925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9758" y="2874188"/>
            <a:ext cx="320954" cy="32095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789420" y="2626614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789420" y="3017520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B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6FBF7"/>
                </a:solidFill>
                <a:latin typeface="Calibri"/>
                <a:ea typeface="Calibri"/>
                <a:cs typeface="Calibri"/>
                <a:sym typeface="Calibri"/>
              </a:rPr>
              <a:t>Saving model, scaler &amp;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1148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1148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5262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50876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161163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161163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65277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70891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81178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281178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85292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90906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01193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401193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05307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10921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21208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21208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25322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30936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641223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641223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45337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509510" y="2578608"/>
            <a:ext cx="89154" cy="1234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7612380" y="2194560"/>
            <a:ext cx="1097280" cy="891540"/>
          </a:xfrm>
          <a:prstGeom prst="roundRect">
            <a:avLst>
              <a:gd fmla="val 6154" name="adj"/>
            </a:avLst>
          </a:prstGeom>
          <a:solidFill>
            <a:srgbClr val="02C39A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7612380" y="22494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7653528" y="2503170"/>
            <a:ext cx="10149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11480" y="349758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preprocess.py  →  train_model.py  →  app.py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788670" y="404622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stage is a separate, single-purpose script — easy to run independently and explain in a viva.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/>
          <p:nvPr/>
        </p:nvSpPr>
        <p:spPr>
          <a:xfrm>
            <a:off x="411480" y="3086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11480" y="72009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Overall Churn Split &amp; Numeric Feature Distributions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s_real/eda_pie_churn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65860"/>
            <a:ext cx="2763774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3600450" y="123444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600450" y="1543050"/>
            <a:ext cx="5074920" cy="1611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26.5% of customers in the dataset churned, while 73.5% stayed.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is a moderately imbalanced dataset — one reason our Recall (57.75%) is lower than Precision.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Customers tend to leave either very early (low tenure) or show a second smaller peak near 70 months, likely contract-end churn.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Monthly Charges show two customer clusters: budget users (~$20) and premium bundle users ($70-$100).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s_real/eda_histograms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3463290"/>
            <a:ext cx="4457700" cy="164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/>
          <p:nvPr/>
        </p:nvSpPr>
        <p:spPr>
          <a:xfrm>
            <a:off x="411480" y="30861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Churn Rate by Customer Segment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11480" y="72009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charts captured from the Streamlit EDA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s_real/eda_bar_contract_internet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2626" y="1028700"/>
            <a:ext cx="3675888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s_real/eda_bar_payment_senior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0360" y="3051810"/>
            <a:ext cx="3367278" cy="178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960120"/>
            <a:ext cx="507492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5692140" y="960120"/>
            <a:ext cx="3017520" cy="3291840"/>
          </a:xfrm>
          <a:prstGeom prst="roundRect">
            <a:avLst>
              <a:gd fmla="val 1818" name="adj"/>
            </a:avLst>
          </a:prstGeom>
          <a:solidFill>
            <a:srgbClr val="F4FBFA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897880" y="1131570"/>
            <a:ext cx="480060" cy="4800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0687" y="1184377"/>
            <a:ext cx="374446" cy="37444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6480810" y="116586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Selected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863590" y="1748790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63590" y="219456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Highest overall accuracy (80.62%)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Simple &amp; fully interpretable coefficients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 to train, easy to explain in viva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11480" y="34290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Results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11480" y="1165860"/>
            <a:ext cx="1954530" cy="1303020"/>
          </a:xfrm>
          <a:prstGeom prst="roundRect">
            <a:avLst>
              <a:gd fmla="val 4211" name="adj"/>
            </a:avLst>
          </a:prstGeom>
          <a:solidFill>
            <a:srgbClr val="03434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11480" y="1337310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80.62%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11480" y="1954530"/>
            <a:ext cx="19545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2537460" y="1165860"/>
            <a:ext cx="1954530" cy="1303020"/>
          </a:xfrm>
          <a:prstGeom prst="roundRect">
            <a:avLst>
              <a:gd fmla="val 4211" name="adj"/>
            </a:avLst>
          </a:prstGeom>
          <a:solidFill>
            <a:srgbClr val="03434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2537460" y="1337310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65.26%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2537460" y="1954530"/>
            <a:ext cx="19545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4663440" y="1165860"/>
            <a:ext cx="1954530" cy="1303020"/>
          </a:xfrm>
          <a:prstGeom prst="roundRect">
            <a:avLst>
              <a:gd fmla="val 4211" name="adj"/>
            </a:avLst>
          </a:prstGeom>
          <a:solidFill>
            <a:srgbClr val="03434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4663440" y="1337310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57.75%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663440" y="1954530"/>
            <a:ext cx="19545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789420" y="1165860"/>
            <a:ext cx="1954530" cy="1303020"/>
          </a:xfrm>
          <a:prstGeom prst="roundRect">
            <a:avLst>
              <a:gd fmla="val 4211" name="adj"/>
            </a:avLst>
          </a:prstGeom>
          <a:solidFill>
            <a:srgbClr val="03434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6789420" y="1337310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61.28%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789420" y="1954530"/>
            <a:ext cx="19545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FE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FEFEA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11480" y="270891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0DA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9FE0DA"/>
                </a:solidFill>
                <a:latin typeface="Calibri"/>
                <a:ea typeface="Calibri"/>
                <a:cs typeface="Calibri"/>
                <a:sym typeface="Calibri"/>
              </a:rPr>
              <a:t>Model: Logistic Regression   |   Evaluated on 20% held-out test set (1,409 customers)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11480" y="3223260"/>
            <a:ext cx="4114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Predictive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11480" y="3566160"/>
            <a:ext cx="829818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6FBF7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E6FBF7"/>
                </a:solidFill>
                <a:latin typeface="Calibri"/>
                <a:ea typeface="Calibri"/>
                <a:cs typeface="Calibri"/>
                <a:sym typeface="Calibri"/>
              </a:rPr>
              <a:t>Contract Type (Month-to-month customers churn most)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E6FBF7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E6FBF7"/>
                </a:solidFill>
                <a:latin typeface="Calibri"/>
                <a:ea typeface="Calibri"/>
                <a:cs typeface="Calibri"/>
                <a:sym typeface="Calibri"/>
              </a:rPr>
              <a:t>Tenure (newer customers are higher risk)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E6FBF7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E6FBF7"/>
                </a:solidFill>
                <a:latin typeface="Calibri"/>
                <a:ea typeface="Calibri"/>
                <a:cs typeface="Calibri"/>
                <a:sym typeface="Calibri"/>
              </a:rPr>
              <a:t>Monthly Charges &amp; Internet Service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/>
          <p:nvPr/>
        </p:nvSpPr>
        <p:spPr>
          <a:xfrm>
            <a:off x="411480" y="30861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Streamlit Application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41148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582930" y="12001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🏠 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82930" y="16116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Project overview &amp; key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25755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3429000" y="12001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📁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429000" y="16116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Preview raw data &amp; column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103620" y="10629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6275070" y="12001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📈 EDA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275070" y="16116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Pie chart, histograms, bar charts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41148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82930" y="25717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🧪 Model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82930" y="29832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Metrics, confusion matrix, feature importance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325755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3429000" y="25717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🔮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429000" y="29832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churn prediction with probability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6103620" y="2434590"/>
            <a:ext cx="2674620" cy="1200150"/>
          </a:xfrm>
          <a:prstGeom prst="roundRect">
            <a:avLst>
              <a:gd fmla="val 3429" name="adj"/>
            </a:avLst>
          </a:prstGeom>
          <a:solidFill>
            <a:srgbClr val="F4FB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275070" y="257175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ℹ️ About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275070" y="298323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Team, tech stack &amp; repository link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/>
          <p:nvPr/>
        </p:nvSpPr>
        <p:spPr>
          <a:xfrm>
            <a:off x="411480" y="30861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11480" y="1097280"/>
            <a:ext cx="617220" cy="6172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74" y="1165175"/>
            <a:ext cx="481432" cy="48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/>
          <p:nvPr/>
        </p:nvSpPr>
        <p:spPr>
          <a:xfrm>
            <a:off x="1234440" y="1062990"/>
            <a:ext cx="7406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Explore additional models (SVM, Gradient Boosting)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Systematic hyperparameter 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 publicly on Streamlit Community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segmentation &amp; retention strategy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11480" y="2811780"/>
            <a:ext cx="8298180" cy="1645920"/>
          </a:xfrm>
          <a:prstGeom prst="roundRect">
            <a:avLst>
              <a:gd fmla="val 3333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685800" y="2983230"/>
            <a:ext cx="77495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Planned Capstone Project (Beyond This Assignment)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685800" y="3429000"/>
            <a:ext cx="77495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  •  RAG  •  LangGraph  •  MCP  •  FastAPI  •  Vector Databases  •  Docker  •  Cloud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4046220" y="891540"/>
            <a:ext cx="1028700" cy="1028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377" y="1004697"/>
            <a:ext cx="802386" cy="80238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/>
          <p:nvPr/>
        </p:nvSpPr>
        <p:spPr>
          <a:xfrm>
            <a:off x="342900" y="2125980"/>
            <a:ext cx="84353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342900" y="274320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0DA"/>
              </a:buClr>
              <a:buSzPts val="1400"/>
              <a:buFont typeface="Calibri"/>
              <a:buNone/>
            </a:pPr>
            <a:r>
              <a:rPr b="0" i="1" lang="en-GB" sz="1400" u="none" cap="none" strike="noStrike">
                <a:solidFill>
                  <a:srgbClr val="9FE0D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42900" y="4457700"/>
            <a:ext cx="8435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0D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FE0DA"/>
                </a:solidFill>
                <a:latin typeface="Calibri"/>
                <a:ea typeface="Calibri"/>
                <a:cs typeface="Calibri"/>
                <a:sym typeface="Calibri"/>
              </a:rPr>
              <a:t>github.com/abhay0963/Customer-Churn-Prediction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